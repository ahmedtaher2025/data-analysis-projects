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500" y="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92583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Welcome everyone. Today we present an executive analysis of 406 vehicle models produced between 1970 and 1982, demonstrating how global oil crises reshaped automotive engineering.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To ensure rigorous data science practices, placeholder zeros were replaced using median imputation grouped by cylinder counts, preserving natural mechanical correlations.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Japanese and German diesel cars dominated efficiency rankings, with Mazda GLC setting an industry benchmark at 46.6 MPG.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Notice the stark market division: 100% of all 8-cylinder muscle cars were American, whereas Japanese and European makers focused on optimized 4-cylinder engines.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Driven by fuel crises, automakers doubled fuel economy over 12 years primarily by shaving ~1,000 lbs off vehicle weights.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Our statistical analysis proves weight reduction was the key efficiency lever. Models like the BMW 2002 proved high horsepower and high MPG could be reconciled.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 conclusion, historical data confirms that optimizing power-to-weight ratio through structural downsizing was the winning strategy for automotive efficiency.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Cars_Project_Presentation.pptx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236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38BDF8"/>
                </a:solidFill>
              </a:defRPr>
            </a:pPr>
            <a:r>
              <a:rPr dirty="0"/>
              <a:t>AUTOMOTIVE INDUSTRY TRANSFORMATION (1970–1982)</a:t>
            </a:r>
          </a:p>
          <a:p>
            <a:pPr>
              <a:spcAft>
                <a:spcPts val="1200"/>
              </a:spcAft>
              <a:defRPr sz="3200" b="1">
                <a:solidFill>
                  <a:srgbClr val="F8FAFC"/>
                </a:solidFill>
              </a:defRPr>
            </a:pPr>
            <a:r>
              <a:rPr dirty="0"/>
              <a:t>Global Fuel Efficiency Trends, Downsizing Dynamics &amp; Regional Analysis</a:t>
            </a:r>
          </a:p>
          <a:p>
            <a:pPr>
              <a:defRPr sz="1500">
                <a:solidFill>
                  <a:srgbClr val="94A3B8"/>
                </a:solidFill>
              </a:defRPr>
            </a:pPr>
            <a:r>
              <a:rPr dirty="0"/>
              <a:t>An Executive Analysis of 406 Vehicle Specifications Across US, Japan, and European Markets</a:t>
            </a:r>
            <a:endParaRPr lang="en-US" dirty="0"/>
          </a:p>
          <a:p>
            <a:pPr>
              <a:defRPr sz="1500">
                <a:solidFill>
                  <a:srgbClr val="94A3B8"/>
                </a:solidFill>
              </a:defRPr>
            </a:pPr>
            <a:endParaRPr lang="en-US" dirty="0"/>
          </a:p>
          <a:p>
            <a:pPr>
              <a:defRPr sz="1500">
                <a:solidFill>
                  <a:srgbClr val="94A3B8"/>
                </a:solidFill>
              </a:defRPr>
            </a:pPr>
            <a:r>
              <a:rPr lang="en-US" sz="2000" dirty="0">
                <a:hlinkClick r:id="rId3" action="ppaction://hlinkpres?slideindex=1&amp;slidetitle="/>
              </a:rPr>
              <a:t>https://colab.research.google.com/drive/1LCJWbtu2cvxwnYa_zqe_wHEXdKg3Xtct?usp=sharing</a:t>
            </a:r>
            <a:endParaRPr sz="2000" dirty="0"/>
          </a:p>
        </p:txBody>
      </p:sp>
      <p:sp>
        <p:nvSpPr>
          <p:cNvPr id="4" name="Rounded Rectangle 3"/>
          <p:cNvSpPr/>
          <p:nvPr/>
        </p:nvSpPr>
        <p:spPr>
          <a:xfrm>
            <a:off x="914400" y="4389120"/>
            <a:ext cx="2377440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4572000"/>
            <a:ext cx="2194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8BDF8"/>
                </a:solidFill>
              </a:defRPr>
            </a:pPr>
            <a:r>
              <a:t>406</a:t>
            </a:r>
          </a:p>
          <a:p>
            <a:pPr algn="ctr">
              <a:defRPr sz="900" b="1">
                <a:solidFill>
                  <a:srgbClr val="94A3B8"/>
                </a:solidFill>
              </a:defRPr>
            </a:pPr>
            <a:r>
              <a:t>VEHICLES ANALYZED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66160" y="4389120"/>
            <a:ext cx="2377440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0" y="4572000"/>
            <a:ext cx="2194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0B981"/>
                </a:solidFill>
              </a:defRPr>
            </a:pPr>
            <a:r>
              <a:t>33.7 MPG</a:t>
            </a:r>
          </a:p>
          <a:p>
            <a:pPr algn="ctr">
              <a:defRPr sz="900" b="1">
                <a:solidFill>
                  <a:srgbClr val="94A3B8"/>
                </a:solidFill>
              </a:defRPr>
            </a:pPr>
            <a:r>
              <a:t>PEAK FUEL ECONOMY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4389120"/>
            <a:ext cx="2377440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09360" y="4572000"/>
            <a:ext cx="2194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59E0B"/>
                </a:solidFill>
              </a:defRPr>
            </a:pPr>
            <a:r>
              <a:t>62.6%</a:t>
            </a:r>
          </a:p>
          <a:p>
            <a:pPr algn="ctr">
              <a:defRPr sz="900" b="1">
                <a:solidFill>
                  <a:srgbClr val="94A3B8"/>
                </a:solidFill>
              </a:defRPr>
            </a:pPr>
            <a:r>
              <a:t>US FLEET SHARE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69680" y="4389120"/>
            <a:ext cx="2377440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61120" y="4572000"/>
            <a:ext cx="2194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A855F7"/>
                </a:solidFill>
              </a:defRPr>
            </a:pPr>
            <a:r>
              <a:t>-0.8331</a:t>
            </a:r>
          </a:p>
          <a:p>
            <a:pPr algn="ctr">
              <a:defRPr sz="900" b="1">
                <a:solidFill>
                  <a:srgbClr val="94A3B8"/>
                </a:solidFill>
              </a:defRPr>
            </a:pPr>
            <a:r>
              <a:t>WEIGHT vs MPG CORRELATION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DATA METHODOLOGY &amp; OVERVIEW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Executive Summary &amp; Data Preprocessing Strategy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Dataset cleaning, zero-value imputation, and market fleet breakdown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38BDF8"/>
                </a:solidFill>
              </a:defRPr>
            </a:pPr>
            <a:r>
              <a:t>🛠️ Data Cleaning &amp; Imputation Strategy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 Missing Data Handling: Replaced 0 values in MPG and Horsepower with NaN placeholders.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 Cylinder Grouped Imputation: Filled missing metrics using median values calculated within specific cylinder categories (3, 4, 5, 6, 8 cylinders).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 Standardization: Converted feature headers to clean standardized snake_case format.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 Dataset Scope: 406 total vehicle records across 9 core technical attributes.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7548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0B981"/>
                </a:solidFill>
              </a:defRPr>
            </a:pPr>
            <a:r>
              <a:t>🌍 Regional Fleet Distribution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 US Fleet Dominance: 254 vehicles representing 62.56% of total sample.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 Japanese Market Share: 79 vehicles representing 19.46% of total sample.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 European Fleet Share: 73 vehicles representing 17.98% of total sample.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 Key Divergence: US market heavily favored large displacement V8 engines, while Europe and Japan focused on 4-cylinder compacts.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DESCRIPTIVE ANALYTICS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Fuel Efficiency Milestones &amp; Engine Configurations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Top fuel-efficient models vs cylinder engine specifications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0B981"/>
                </a:solidFill>
              </a:defRPr>
            </a:pPr>
            <a:r>
              <a:t>🥇 Top 5 Most Fuel-Efficient Models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 1. Mazda GLC (Japan, 1980): 46.6 MPG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 2. Honda Civic 1500 gl (Japan, 1980): 44.6 MPG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 3. VW Rabbit C Diesel (Europe, 1980): 44.3 MPG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 4. VW Pickup (Europe, 1982): 44.0 MPG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 5. VW Dasher Diesel (Europe, 1980): 43.4 MPG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7548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59E0B"/>
                </a:solidFill>
              </a:defRPr>
            </a:pPr>
            <a:r>
              <a:t>⚙️ Engine Performance by Cylinder Count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 4-Cylinder Engines (207 cars): Avg 78.5 HP | Avg Weight 2,313 lbs -&gt; Maximum Efficiency.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 6-Cylinder Engines (84 cars): Avg 101.5 HP | Avg Weight 3,198 lbs -&gt; Mid-tier balance.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 8-Cylinder Engines (108 cars): Avg 158.5 HP | Avg Weight 4,105 lbs -&gt; High power &amp; consumption.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 3 &amp; 5-Cylinder Engines (7 cars): Specialized niche models (e.g. Mazda Rotary, Audi/Volvo Diesels).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REGIONAL COMPARISON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Market Specification Divergence &amp; Engine Dominance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Comparing US, European, and Japanese vehicle profiles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38BDF8"/>
                </a:solidFill>
              </a:defRPr>
            </a:pPr>
            <a:r>
              <a:t>📊 Regional Specification Summary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 Japan: Highest efficiency (30.45 MPG avg), lightweight (2,221 lbs avg), 79.8 HP avg.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 Europe: Balanced economy (26.75 MPG avg), 2,431 lbs avg weight, 78.8 HP avg.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 US: Power center (118.0 HP avg, 3,373 lbs avg weight, 19.69 MPG avg).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 Power-to-Weight Leader: Japan leads with 0.0357 HP/lb ratio.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7548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A855F7"/>
                </a:solidFill>
              </a:defRPr>
            </a:pPr>
            <a:r>
              <a:t>🚨 The 8-Cylinder Monopoly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 100% US Concentration: All 108 8-cylinder cars in the dataset are US-manufactured.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 Zero 8-Cylinders in JP/EU: Europe and Japan manufactured 0 8-cylinder models.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 US Fleet Composition: 8-cylinder engines represented 42.52% of all US cars.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 Market Shift: Heavy US V8s became economically unviable after oil price shocks.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TEMPORAL ANALYSIS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Historical Efficiency Surge &amp; Downsizing Dynamics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1970 to 1982 progression of MPG, vehicle weight, and horsepower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0B981"/>
                </a:solidFill>
              </a:defRPr>
            </a:pPr>
            <a:r>
              <a:t>📈 The Fuel Efficiency Surge (+116%)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 1970 Baseline: Global average efficiency stood at 14.66 MPG.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 1980 Peak: Reached record high average of 33.70 MPG.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 1982 Plateau: Settled at 31.71 MPG average.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 Overall Growth: +116% efficiency improvement over 12 model years.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7548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59E0B"/>
                </a:solidFill>
              </a:defRPr>
            </a:pPr>
            <a:r>
              <a:t>🚀 Regional Improvement Velocity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 Europe: Fastest MPG growth (+19.00 MPG increase from 21.0 to 40.0 MPG).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 United States: Second fastest growth (+17.01 MPG increase from 12.4 to 29.5 MPG).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 Japan: Consistent high baseline (+9.39 MPG increase from 25.5 to 34.9 MPG).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 Primary Lever: Systematic reduction of vehicle weight from 3,441 lbs to ~2,453 lbs.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STATISTICAL MODELING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Correlation &amp; High-Efficiency 'Unicorn' Vehicles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Pearson correlation analysis and performance outliers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38BDF8"/>
                </a:solidFill>
              </a:defRPr>
            </a:pPr>
            <a:r>
              <a:t>🔗 Pearson Correlation: r = -0.8331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 Strong Inverse Relationship: Weight vs MPG exhibits a r = -0.8331 correlation.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 Engineering Insight: Vehicle weight is the single strongest negative predictor of fuel economy.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 Acceleration IQR Outliers: Fast accel (Plymouth 'Cuda 340 - 8.0s) vs Slow accel (Peugeot 504 - 24.8s).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7548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A855F7"/>
                </a:solidFill>
              </a:defRPr>
            </a:pPr>
            <a:r>
              <a:t>🦄 High-HP &amp; High-MPG 'Unicorn' Models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 Citroen DS-21 Pallas: 115.0 HP | 28.25 MPG (Europe)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 BMW 2002: 113.0 HP | 26.00 MPG (Europe)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 Chevrolet Citation: 115.0 HP | 28.80 MPG (US)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 Saab 99LE: 115.0 HP | 25.00 MPG (Europe)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 Oldsmobile Omega Brougham: 115.0 HP | 26.80 MPG (US)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STRATEGIC TAKEAWAYS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Conclusions &amp; Key Engineering Recommendations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Summary of findings and future automotive engineering implications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9260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38BDF8"/>
                </a:solidFill>
              </a:defRPr>
            </a:pPr>
            <a:r>
              <a:t>💡 Structural Downsizing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 Weight reduction proved 3x more effective for MPG gains than engine de-tuning alone.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 Lightweight materials remain critical for fuel economy.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0" y="1828800"/>
            <a:ext cx="29260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0B981"/>
                </a:solidFill>
              </a:defRPr>
            </a:pPr>
            <a:r>
              <a:t>🎯 Power-to-Weight Ratio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 Japan achieved top responsiveness (0.0357 HP/lb ratio).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 Small, high-efficiency engines with low curb weights deliver optimal performance.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0" y="1828800"/>
            <a:ext cx="29260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59E0B"/>
                </a:solidFill>
              </a:defRPr>
            </a:pPr>
            <a:r>
              <a:t>❓ Q&amp;A / Summary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 Global fleet doubled MPG (+116%) between 1970 and 1982.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 Thank you! Ready for questions and discussion.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1131</Words>
  <Application>Microsoft Office PowerPoint</Application>
  <PresentationFormat>Widescreen</PresentationFormat>
  <Paragraphs>98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Ahmed 32300471</cp:lastModifiedBy>
  <cp:revision>2</cp:revision>
  <dcterms:created xsi:type="dcterms:W3CDTF">2013-01-27T09:14:16Z</dcterms:created>
  <dcterms:modified xsi:type="dcterms:W3CDTF">2026-09-29T11:47:54Z</dcterms:modified>
  <cp:category/>
</cp:coreProperties>
</file>