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1"/>
  </p:sldMasterIdLst>
  <p:sldIdLst>
    <p:sldId id="257" r:id="rId2"/>
    <p:sldId id="258" r:id="rId3"/>
    <p:sldId id="279" r:id="rId4"/>
    <p:sldId id="259" r:id="rId5"/>
    <p:sldId id="280" r:id="rId6"/>
    <p:sldId id="261" r:id="rId7"/>
    <p:sldId id="270" r:id="rId8"/>
    <p:sldId id="275" r:id="rId9"/>
    <p:sldId id="272" r:id="rId10"/>
    <p:sldId id="276" r:id="rId11"/>
    <p:sldId id="265" r:id="rId12"/>
    <p:sldId id="262" r:id="rId13"/>
    <p:sldId id="263" r:id="rId14"/>
    <p:sldId id="277" r:id="rId15"/>
    <p:sldId id="273" r:id="rId16"/>
    <p:sldId id="274" r:id="rId17"/>
    <p:sldId id="264" r:id="rId18"/>
    <p:sldId id="266" r:id="rId19"/>
    <p:sldId id="278" r:id="rId20"/>
    <p:sldId id="267" r:id="rId21"/>
    <p:sldId id="268" r:id="rId22"/>
    <p:sldId id="26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76" d="100"/>
          <a:sy n="76" d="100"/>
        </p:scale>
        <p:origin x="-462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579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9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4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3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60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40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4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0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8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7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56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4191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90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19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911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13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75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28B4CD-3616-153F-FB52-DAF6BB00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9B68533-DECC-D384-1952-CE4779E60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BFE4CA6-288C-9528-0470-5C626187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B4906A0-8293-1E25-0494-970AA636D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3E6C83C-9E19-E930-9E5D-6AC235B11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6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127507B-4F30-43F1-B740-F9E7BB56182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BADA5D0-7D58-4A0C-AD12-230009E12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5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  <p:sldLayoutId id="2147483811" r:id="rId17"/>
    <p:sldLayoutId id="214748381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6BCF44-6094-263E-1BDB-CB20070DCA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Driven Health and Lifestyle Monitoring With Python and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75E22AB-FB71-180E-1B44-B6F777AF3A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Graduation Research Project Defense</a:t>
            </a:r>
          </a:p>
          <a:p>
            <a:r>
              <a:rPr lang="en-US"/>
              <a:t>Faculty of Management and Business Intelligence</a:t>
            </a:r>
          </a:p>
        </p:txBody>
      </p:sp>
    </p:spTree>
    <p:extLst>
      <p:ext uri="{BB962C8B-B14F-4D97-AF65-F5344CB8AC3E}">
        <p14:creationId xmlns:p14="http://schemas.microsoft.com/office/powerpoint/2010/main" val="4007982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47A788-4275-8DDA-7734-1D8C55011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Team &amp; Supervisors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8786231-5E49-B918-A034-0C60D0F0E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Prepared By:</a:t>
            </a:r>
          </a:p>
          <a:p>
            <a:r>
              <a:rPr lang="en-US" dirty="0"/>
              <a:t> Ahmed Hatem El Sayed Mohamed (ID: 101907)</a:t>
            </a:r>
          </a:p>
          <a:p>
            <a:r>
              <a:rPr lang="en-US" dirty="0"/>
              <a:t> Ahmed Taher Mohamed Sobhy Ghanem (ID: 108689)</a:t>
            </a:r>
          </a:p>
          <a:p>
            <a:r>
              <a:rPr lang="en-US" dirty="0"/>
              <a:t> Mariem Hassan Mohamed Hassan (ID: 97947)</a:t>
            </a:r>
          </a:p>
          <a:p>
            <a:r>
              <a:rPr lang="en-US" dirty="0"/>
              <a:t> Nour Eldeen Mohamed Kamal (ID: 103727)</a:t>
            </a:r>
          </a:p>
          <a:p>
            <a:r>
              <a:rPr lang="en-US" dirty="0"/>
              <a:t> Yousef Ibrahim Yousef Gawish (ID: 102353)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Supervised By:</a:t>
            </a:r>
          </a:p>
          <a:p>
            <a:r>
              <a:rPr lang="en-US" dirty="0"/>
              <a:t> Dr. Rasha Mansor</a:t>
            </a:r>
          </a:p>
          <a:p>
            <a:r>
              <a:rPr lang="en-US" dirty="0"/>
              <a:t> TA. Nora Barakat</a:t>
            </a:r>
          </a:p>
        </p:txBody>
      </p:sp>
    </p:spTree>
    <p:extLst>
      <p:ext uri="{BB962C8B-B14F-4D97-AF65-F5344CB8AC3E}">
        <p14:creationId xmlns:p14="http://schemas.microsoft.com/office/powerpoint/2010/main" val="16115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63879" y="493257"/>
            <a:ext cx="10364451" cy="1596177"/>
          </a:xfrm>
        </p:spPr>
        <p:txBody>
          <a:bodyPr/>
          <a:lstStyle/>
          <a:p>
            <a:r>
              <a:rPr lang="en-US" dirty="0"/>
              <a:t>Project Agenda</a:t>
            </a:r>
          </a:p>
        </p:txBody>
      </p:sp>
      <p:sp>
        <p:nvSpPr>
          <p:cNvPr id="10" name="LeftCard"/>
          <p:cNvSpPr>
            <a:spLocks noGrp="1"/>
          </p:cNvSpPr>
          <p:nvPr/>
        </p:nvSpPr>
        <p:spPr>
          <a:xfrm>
            <a:off x="457200" y="1600200"/>
            <a:ext cx="5486400" cy="4971600"/>
          </a:xfrm>
          <a:prstGeom prst="roundRect">
            <a:avLst>
              <a:gd name="adj" fmla="val 16667"/>
            </a:avLst>
          </a:prstGeom>
          <a:solidFill>
            <a:srgbClr val="CADCFC">
              <a:alpha val="3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Card"/>
          <p:cNvSpPr>
            <a:spLocks noGrp="1"/>
          </p:cNvSpPr>
          <p:nvPr/>
        </p:nvSpPr>
        <p:spPr>
          <a:xfrm>
            <a:off x="6248400" y="1600200"/>
            <a:ext cx="5486400" cy="4971600"/>
          </a:xfrm>
          <a:prstGeom prst="roundRect">
            <a:avLst>
              <a:gd name="adj" fmla="val 16667"/>
            </a:avLst>
          </a:prstGeom>
          <a:solidFill>
            <a:srgbClr val="4BCAAD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LeftItems"/>
          <p:cNvSpPr>
            <a:spLocks noGrp="1"/>
          </p:cNvSpPr>
          <p:nvPr/>
        </p:nvSpPr>
        <p:spPr>
          <a:xfrm>
            <a:off x="609600" y="1676400"/>
            <a:ext cx="5181600" cy="4800600"/>
          </a:xfrm>
          <a:prstGeom prst="rect">
            <a:avLst/>
          </a:prstGeom>
          <a:noFill/>
        </p:spPr>
        <p:txBody>
          <a:bodyPr wrap="square" lIns="228600" tIns="228600" rIns="228600" bIns="114300" anchor="t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FA3EE"/>
                </a:solidFill>
              </a:rPr>
              <a:t>01  </a:t>
            </a:r>
            <a:r>
              <a:rPr lang="en-US" sz="1800" b="1" dirty="0">
                <a:solidFill>
                  <a:srgbClr val="1C1C1C"/>
                </a:solidFill>
              </a:rPr>
              <a:t>Project Idea</a:t>
            </a:r>
          </a:p>
          <a:p>
            <a:pPr marL="4572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555555"/>
                </a:solidFill>
              </a:rPr>
              <a:t>What we built and why it matters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FA3EE"/>
                </a:solidFill>
              </a:rPr>
              <a:t>02  </a:t>
            </a:r>
            <a:r>
              <a:rPr lang="en-US" sz="1800" b="1" dirty="0">
                <a:solidFill>
                  <a:srgbClr val="1C1C1C"/>
                </a:solidFill>
              </a:rPr>
              <a:t>Problem &amp; Objectives</a:t>
            </a:r>
          </a:p>
          <a:p>
            <a:pPr marL="4572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555555"/>
                </a:solidFill>
              </a:rPr>
              <a:t>The problem we solve and our goals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FA3EE"/>
                </a:solidFill>
              </a:rPr>
              <a:t>03  </a:t>
            </a:r>
            <a:r>
              <a:rPr lang="en-US" sz="1800" b="1" dirty="0">
                <a:solidFill>
                  <a:srgbClr val="1C1C1C"/>
                </a:solidFill>
              </a:rPr>
              <a:t>Literature Review</a:t>
            </a:r>
          </a:p>
          <a:p>
            <a:pPr marL="4572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555555"/>
                </a:solidFill>
              </a:rPr>
              <a:t>What researchers found before us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FA3EE"/>
                </a:solidFill>
              </a:rPr>
              <a:t>04  </a:t>
            </a:r>
            <a:r>
              <a:rPr lang="en-US" sz="1800" b="1" dirty="0">
                <a:solidFill>
                  <a:srgbClr val="1C1C1C"/>
                </a:solidFill>
              </a:rPr>
              <a:t>Dataset</a:t>
            </a:r>
          </a:p>
          <a:p>
            <a:pPr marL="4572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555555"/>
                </a:solidFill>
              </a:rPr>
              <a:t>155 health records: sleep, activity, stress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FA3EE"/>
                </a:solidFill>
              </a:rPr>
              <a:t>05  </a:t>
            </a:r>
            <a:r>
              <a:rPr lang="en-US" sz="1800" b="1" dirty="0">
                <a:solidFill>
                  <a:srgbClr val="1C1C1C"/>
                </a:solidFill>
              </a:rPr>
              <a:t>System Design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555555"/>
                </a:solidFill>
              </a:rPr>
              <a:t>Use case, sequence diagram, Gantt chart</a:t>
            </a:r>
          </a:p>
        </p:txBody>
      </p:sp>
      <p:sp>
        <p:nvSpPr>
          <p:cNvPr id="4" name="RightItems"/>
          <p:cNvSpPr>
            <a:spLocks noGrp="1"/>
          </p:cNvSpPr>
          <p:nvPr/>
        </p:nvSpPr>
        <p:spPr>
          <a:xfrm>
            <a:off x="6400800" y="1676400"/>
            <a:ext cx="5181600" cy="4800600"/>
          </a:xfrm>
          <a:prstGeom prst="rect">
            <a:avLst/>
          </a:prstGeom>
          <a:noFill/>
        </p:spPr>
        <p:txBody>
          <a:bodyPr wrap="square" lIns="228600" tIns="228600" rIns="228600" bIns="114300" anchor="t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4BCAAD"/>
                </a:solidFill>
              </a:rPr>
              <a:t>06  </a:t>
            </a:r>
            <a:r>
              <a:rPr lang="en-US" sz="1800" b="1" dirty="0">
                <a:solidFill>
                  <a:srgbClr val="1C1C1C"/>
                </a:solidFill>
              </a:rPr>
              <a:t>Implementation</a:t>
            </a:r>
          </a:p>
          <a:p>
            <a:pPr marL="4572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555555"/>
                </a:solidFill>
              </a:rPr>
              <a:t>Python code: data cleaning &amp; ML models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4BCAAD"/>
                </a:solidFill>
              </a:rPr>
              <a:t>07  </a:t>
            </a:r>
            <a:r>
              <a:rPr lang="en-US" sz="1800" b="1" dirty="0">
                <a:solidFill>
                  <a:srgbClr val="1C1C1C"/>
                </a:solidFill>
              </a:rPr>
              <a:t>ML Results</a:t>
            </a:r>
          </a:p>
          <a:p>
            <a:pPr marL="4572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555555"/>
                </a:solidFill>
              </a:rPr>
              <a:t>92% and 95.6% accuracy achieved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4BCAAD"/>
                </a:solidFill>
              </a:rPr>
              <a:t>08  </a:t>
            </a:r>
            <a:r>
              <a:rPr lang="en-US" sz="1800" b="1" dirty="0">
                <a:solidFill>
                  <a:srgbClr val="1C1C1C"/>
                </a:solidFill>
              </a:rPr>
              <a:t>Power BI Dashboards</a:t>
            </a:r>
          </a:p>
          <a:p>
            <a:pPr marL="4572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555555"/>
                </a:solidFill>
              </a:rPr>
              <a:t>Health insights turned into visual reports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4BCAAD"/>
                </a:solidFill>
              </a:rPr>
              <a:t>09  </a:t>
            </a:r>
            <a:r>
              <a:rPr lang="en-US" sz="1800" b="1" dirty="0">
                <a:solidFill>
                  <a:srgbClr val="1C1C1C"/>
                </a:solidFill>
              </a:rPr>
              <a:t>Significance &amp; Contribution</a:t>
            </a:r>
          </a:p>
          <a:p>
            <a:pPr marL="4572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555555"/>
                </a:solidFill>
              </a:rPr>
              <a:t>Why this project is useful in real life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4BCAAD"/>
                </a:solidFill>
              </a:rPr>
              <a:t>10  </a:t>
            </a:r>
            <a:r>
              <a:rPr lang="en-US" sz="1800" b="1" dirty="0">
                <a:solidFill>
                  <a:srgbClr val="1C1C1C"/>
                </a:solidFill>
              </a:rPr>
              <a:t>Conclusion &amp; Future Work</a:t>
            </a:r>
          </a:p>
          <a:p>
            <a:pPr marL="457200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555555"/>
                </a:solidFill>
              </a:rPr>
              <a:t>Summary and what comes next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8ABDCD-559D-789D-5E4B-2DB98C3C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B4E6B73-35C7-01AC-C302-5BC24EEC2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just"/>
            <a:r>
              <a:rPr lang="en-US" dirty="0"/>
              <a:t>Build a </a:t>
            </a:r>
            <a:r>
              <a:rPr lang="en-US" b="1" dirty="0"/>
              <a:t>machine learning model</a:t>
            </a:r>
            <a:r>
              <a:rPr lang="en-US" dirty="0"/>
              <a:t> that connects health prediction with business analytics.</a:t>
            </a:r>
          </a:p>
          <a:p>
            <a:pPr lvl="0"/>
            <a:r>
              <a:rPr lang="en-US" dirty="0"/>
              <a:t>Collects </a:t>
            </a:r>
            <a:r>
              <a:rPr lang="en-US" b="1" dirty="0"/>
              <a:t>daily activities, lifestyle habits, and health data</a:t>
            </a:r>
            <a:r>
              <a:rPr lang="en-US" dirty="0"/>
              <a:t> to find patterns.</a:t>
            </a:r>
          </a:p>
          <a:p>
            <a:pPr lvl="0"/>
            <a:r>
              <a:rPr lang="en-US" dirty="0"/>
              <a:t>Uses </a:t>
            </a:r>
            <a:r>
              <a:rPr lang="en-US" b="1" dirty="0"/>
              <a:t>Python for machine learning</a:t>
            </a:r>
            <a:r>
              <a:rPr lang="en-US" dirty="0"/>
              <a:t> and </a:t>
            </a:r>
            <a:r>
              <a:rPr lang="en-US" b="1" dirty="0"/>
              <a:t>Power BI for dashboards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325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0" algn="just"/>
            <a:r>
              <a:rPr lang="en-US" dirty="0"/>
              <a:t>Modern life has created a major problem called </a:t>
            </a:r>
            <a:r>
              <a:rPr lang="en-US" b="1" dirty="0"/>
              <a:t>“Self-Neglect”</a:t>
            </a:r>
            <a:r>
              <a:rPr lang="en-US" dirty="0"/>
              <a:t> — people focus on work and study while ignoring sleep and physical activity.</a:t>
            </a:r>
          </a:p>
          <a:p>
            <a:pPr lvl="0" algn="just"/>
            <a:r>
              <a:rPr lang="en-US" dirty="0"/>
              <a:t>Over time, this leads to </a:t>
            </a:r>
            <a:r>
              <a:rPr lang="en-US" b="1" dirty="0"/>
              <a:t>stress, poor performance, and chronic diseases</a:t>
            </a:r>
            <a:r>
              <a:rPr lang="en-US" dirty="0"/>
              <a:t> like heart problems and sleep disorders.</a:t>
            </a:r>
          </a:p>
          <a:p>
            <a:pPr lvl="0" algn="just"/>
            <a:r>
              <a:rPr lang="en-US" dirty="0"/>
              <a:t>The biggest gap: most health tools only </a:t>
            </a:r>
            <a:r>
              <a:rPr lang="en-US" b="1" dirty="0"/>
              <a:t>react after problems appear</a:t>
            </a:r>
            <a:r>
              <a:rPr lang="en-US" dirty="0"/>
              <a:t>, not before — so people discover risks too late.</a:t>
            </a:r>
          </a:p>
          <a:p>
            <a:pPr lvl="0" algn="just"/>
            <a:r>
              <a:rPr lang="en-US" dirty="0"/>
              <a:t>Our solution: a </a:t>
            </a:r>
            <a:r>
              <a:rPr lang="en-US" b="1" dirty="0"/>
              <a:t>Machine Learning model</a:t>
            </a:r>
            <a:r>
              <a:rPr lang="en-US" dirty="0"/>
              <a:t> (Random Forest + Logistic Regression) that finds hidden health risks from daily habits.</a:t>
            </a:r>
          </a:p>
          <a:p>
            <a:pPr lvl="0" algn="just"/>
            <a:r>
              <a:rPr lang="en-US" dirty="0"/>
              <a:t>It gives </a:t>
            </a:r>
            <a:r>
              <a:rPr lang="en-US" b="1" dirty="0"/>
              <a:t>early predictions</a:t>
            </a:r>
            <a:r>
              <a:rPr lang="en-US" dirty="0"/>
              <a:t> so people can make better choices, reduce risks, and improve their quality of life.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8234F9-CFBE-EE51-68CE-3CE1CE0E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021D22A-5C76-F037-A2A9-9D5D487C5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dirty="0"/>
              <a:t>• Create a full </a:t>
            </a:r>
            <a:r>
              <a:rPr lang="en-US" b="1" dirty="0"/>
              <a:t>machine learning Model</a:t>
            </a:r>
            <a:r>
              <a:rPr lang="en-US" dirty="0"/>
              <a:t> to predict health risks.</a:t>
            </a:r>
          </a:p>
          <a:p>
            <a:pPr lvl="0" algn="just"/>
            <a:r>
              <a:rPr lang="en-US" dirty="0"/>
              <a:t>Fix missing data problems in health records.</a:t>
            </a:r>
          </a:p>
          <a:p>
            <a:pPr lvl="0" algn="just"/>
            <a:r>
              <a:rPr lang="en-US" dirty="0"/>
              <a:t>Use </a:t>
            </a:r>
            <a:r>
              <a:rPr lang="en-US" b="1" dirty="0"/>
              <a:t>dashboards</a:t>
            </a:r>
            <a:r>
              <a:rPr lang="en-US" dirty="0"/>
              <a:t> so supervisors can see results easily.</a:t>
            </a:r>
          </a:p>
          <a:p>
            <a:pPr lvl="0" algn="just"/>
            <a:r>
              <a:rPr lang="en-US" dirty="0"/>
              <a:t>Help with </a:t>
            </a:r>
            <a:r>
              <a:rPr lang="en-US" b="1" dirty="0"/>
              <a:t>early detection</a:t>
            </a:r>
            <a:r>
              <a:rPr lang="en-US" dirty="0"/>
              <a:t> of health issues.</a:t>
            </a:r>
          </a:p>
        </p:txBody>
      </p:sp>
    </p:spTree>
    <p:extLst>
      <p:ext uri="{BB962C8B-B14F-4D97-AF65-F5344CB8AC3E}">
        <p14:creationId xmlns:p14="http://schemas.microsoft.com/office/powerpoint/2010/main" val="305517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04DC7F-97F3-CBF9-DAF0-FA952EFD2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2A94F82-9021-F70D-E08D-90F049462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4" y="2336104"/>
            <a:ext cx="10284494" cy="369517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Total Dataset Size: 155 individual health and lifestyle records. </a:t>
            </a:r>
          </a:p>
          <a:p>
            <a:pPr algn="just"/>
            <a:r>
              <a:rPr lang="en-US" dirty="0"/>
              <a:t>Demographics: Age, Gender, Occupation.   </a:t>
            </a:r>
          </a:p>
          <a:p>
            <a:pPr algn="just"/>
            <a:r>
              <a:rPr lang="en-US" dirty="0"/>
              <a:t> Physiological: Heart Rate, Blood Pressure, BMI Category.</a:t>
            </a:r>
          </a:p>
          <a:p>
            <a:pPr algn="just"/>
            <a:r>
              <a:rPr lang="en-US" dirty="0"/>
              <a:t> Behavioral: Sleep Duration, Quality of Sleep, Physical Activity, Stress Level. </a:t>
            </a:r>
          </a:p>
          <a:p>
            <a:pPr algn="just"/>
            <a:r>
              <a:rPr lang="en-US" dirty="0"/>
              <a:t>Data Partitioning: 70% used for model training, 30% held out for evaluation and testing.</a:t>
            </a:r>
          </a:p>
        </p:txBody>
      </p:sp>
    </p:spTree>
    <p:extLst>
      <p:ext uri="{BB962C8B-B14F-4D97-AF65-F5344CB8AC3E}">
        <p14:creationId xmlns:p14="http://schemas.microsoft.com/office/powerpoint/2010/main" val="1381138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B0347C-1C1D-AF43-5424-90664829B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Guided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56268F7-3251-9EFD-D9BF-4D02FF758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 What dataset did you use ?</a:t>
            </a:r>
          </a:p>
          <a:p>
            <a:r>
              <a:rPr lang="en-US" dirty="0"/>
              <a:t>2- Who can benefit from this project ?</a:t>
            </a:r>
          </a:p>
          <a:p>
            <a:r>
              <a:rPr lang="en-US" dirty="0"/>
              <a:t>3- What insights did you discover from the dataset ?</a:t>
            </a:r>
          </a:p>
          <a:p>
            <a:r>
              <a:rPr lang="en-US" dirty="0"/>
              <a:t>4- Why did you choose Logistic Regression ?</a:t>
            </a:r>
          </a:p>
          <a:p>
            <a:pPr algn="just"/>
            <a:r>
              <a:rPr lang="en-US" dirty="0"/>
              <a:t>5- How can the project be improved in the </a:t>
            </a:r>
            <a:r>
              <a:rPr lang="en-US" dirty="0" smtClean="0"/>
              <a:t>future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625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BEF643-7781-EA17-BEEB-94C3E8D4D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"/>
            <a:ext cx="10364451" cy="2214694"/>
          </a:xfrm>
        </p:spPr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9663E84-1679-CC40-4BDD-09BEF2BFA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786" y="1753644"/>
            <a:ext cx="11799517" cy="4947781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b="1" dirty="0"/>
              <a:t>Evolution of Health Monitoring Tools: </a:t>
            </a:r>
          </a:p>
          <a:p>
            <a:pPr algn="just"/>
            <a:r>
              <a:rPr lang="en-US" b="1" dirty="0"/>
              <a:t>Phase 1: The Clinic Era | </a:t>
            </a:r>
            <a:r>
              <a:rPr lang="en-US" b="1" dirty="0" err="1" smtClean="0"/>
              <a:t>Braunwald</a:t>
            </a:r>
            <a:r>
              <a:rPr lang="en-US" b="1" dirty="0" smtClean="0"/>
              <a:t> </a:t>
            </a:r>
            <a:r>
              <a:rPr lang="en-US" b="1" dirty="0"/>
              <a:t>(2015)</a:t>
            </a:r>
            <a:r>
              <a:rPr lang="en-US" dirty="0"/>
              <a:t> (pp. 8, 26)</a:t>
            </a:r>
          </a:p>
          <a:p>
            <a:pPr lvl="1" algn="just"/>
            <a:r>
              <a:rPr lang="en-US" b="1" dirty="0"/>
              <a:t>Focus:</a:t>
            </a:r>
            <a:r>
              <a:rPr lang="en-US" dirty="0"/>
              <a:t> </a:t>
            </a:r>
            <a:r>
              <a:rPr lang="en-US" sz="2000" dirty="0"/>
              <a:t>Medical-grade</a:t>
            </a:r>
            <a:r>
              <a:rPr lang="en-US" dirty="0"/>
              <a:t> diagnostics and physical indicators (pp. 13, 26).</a:t>
            </a:r>
          </a:p>
          <a:p>
            <a:pPr lvl="1" algn="just"/>
            <a:r>
              <a:rPr lang="en-US" b="1" dirty="0"/>
              <a:t>Tools:</a:t>
            </a:r>
            <a:r>
              <a:rPr lang="en-US" dirty="0"/>
              <a:t> Clinical instruments (Stethoscopes, BP cuffs, EKG machines) (p. 26).</a:t>
            </a:r>
          </a:p>
          <a:p>
            <a:pPr lvl="1" algn="just"/>
            <a:r>
              <a:rPr lang="en-US" b="1" dirty="0"/>
              <a:t>Impact:</a:t>
            </a:r>
            <a:r>
              <a:rPr lang="en-US" dirty="0"/>
              <a:t> Revolutionized internal measurements but captured only brief, isolated clinical snapshots (p. 26).</a:t>
            </a:r>
          </a:p>
          <a:p>
            <a:pPr algn="just"/>
            <a:r>
              <a:rPr lang="en-US" b="1" dirty="0"/>
              <a:t>Phase 2: Going Digital | </a:t>
            </a:r>
            <a:r>
              <a:rPr lang="en-US" b="1" dirty="0" err="1" smtClean="0"/>
              <a:t>Shortliffe</a:t>
            </a:r>
            <a:r>
              <a:rPr lang="en-US" b="1" dirty="0" smtClean="0"/>
              <a:t> </a:t>
            </a:r>
            <a:r>
              <a:rPr lang="en-US" b="1" dirty="0"/>
              <a:t>&amp; </a:t>
            </a:r>
            <a:r>
              <a:rPr lang="en-US" b="1" dirty="0" err="1"/>
              <a:t>Cimino</a:t>
            </a:r>
            <a:r>
              <a:rPr lang="en-US" b="1" dirty="0"/>
              <a:t> (2014)</a:t>
            </a:r>
            <a:r>
              <a:rPr lang="en-US" dirty="0"/>
              <a:t> (p. 26)</a:t>
            </a:r>
          </a:p>
          <a:p>
            <a:pPr lvl="1" algn="just"/>
            <a:r>
              <a:rPr lang="en-US" b="1" dirty="0"/>
              <a:t>Focus:</a:t>
            </a:r>
            <a:r>
              <a:rPr lang="en-US" dirty="0"/>
              <a:t> Digital administrative transformation and records management (pp. 6, 26).</a:t>
            </a:r>
          </a:p>
          <a:p>
            <a:pPr lvl="1" algn="just"/>
            <a:r>
              <a:rPr lang="en-US" b="1" dirty="0"/>
              <a:t>Tools:</a:t>
            </a:r>
            <a:r>
              <a:rPr lang="en-US" dirty="0"/>
              <a:t> Electronic Health Records (EHR) systems (p. 26).</a:t>
            </a:r>
          </a:p>
          <a:p>
            <a:pPr lvl="1" algn="just"/>
            <a:r>
              <a:rPr lang="en-US" b="1" dirty="0"/>
              <a:t>Impact:</a:t>
            </a:r>
            <a:r>
              <a:rPr lang="en-US" dirty="0"/>
              <a:t> Migrated patient histories to computers but lacked predictive power or continuous tracking (p. 26).</a:t>
            </a:r>
          </a:p>
          <a:p>
            <a:pPr algn="just"/>
            <a:r>
              <a:rPr lang="en-US" b="1" dirty="0"/>
              <a:t>Phase 3: Consumer </a:t>
            </a:r>
            <a:r>
              <a:rPr lang="en-US" b="1" dirty="0" smtClean="0"/>
              <a:t>Wearable </a:t>
            </a:r>
            <a:r>
              <a:rPr lang="en-US" b="1" dirty="0"/>
              <a:t>| Patel (2026) &amp; </a:t>
            </a:r>
            <a:r>
              <a:rPr lang="en-US" b="1" dirty="0" err="1"/>
              <a:t>Shcherbina</a:t>
            </a:r>
            <a:r>
              <a:rPr lang="en-US" b="1" dirty="0"/>
              <a:t> et al. (2017)</a:t>
            </a:r>
            <a:r>
              <a:rPr lang="en-US" dirty="0"/>
              <a:t> (p. 26)</a:t>
            </a:r>
          </a:p>
          <a:p>
            <a:pPr lvl="1" algn="just"/>
            <a:r>
              <a:rPr lang="en-US" b="1" dirty="0"/>
              <a:t>Focus:</a:t>
            </a:r>
            <a:r>
              <a:rPr lang="en-US" dirty="0"/>
              <a:t> Continuous, 24/7 personal biometric tracking (pp. 25-26).</a:t>
            </a:r>
          </a:p>
          <a:p>
            <a:pPr lvl="1" algn="just"/>
            <a:r>
              <a:rPr lang="en-US" b="1" dirty="0"/>
              <a:t>Tools:</a:t>
            </a:r>
            <a:r>
              <a:rPr lang="en-US" dirty="0"/>
              <a:t> </a:t>
            </a:r>
            <a:r>
              <a:rPr lang="en-US" dirty="0" smtClean="0"/>
              <a:t>Smart watches </a:t>
            </a:r>
            <a:r>
              <a:rPr lang="en-US" dirty="0"/>
              <a:t>and wrist-worn fitness trackers </a:t>
            </a:r>
            <a:r>
              <a:rPr lang="en-US" dirty="0" smtClean="0"/>
              <a:t>(Fit bit, </a:t>
            </a:r>
            <a:r>
              <a:rPr lang="en-US" dirty="0"/>
              <a:t>Apple Watch) (pp. 13, 26).</a:t>
            </a:r>
          </a:p>
          <a:p>
            <a:pPr lvl="1" algn="just"/>
            <a:r>
              <a:rPr lang="en-US" b="1" dirty="0"/>
              <a:t>Impact:</a:t>
            </a:r>
            <a:r>
              <a:rPr lang="en-US" dirty="0"/>
              <a:t> Generated massive streams of real-world health data without clinical validation (p. 26).</a:t>
            </a:r>
          </a:p>
          <a:p>
            <a:pPr algn="just"/>
            <a:r>
              <a:rPr lang="en-US" b="1" dirty="0"/>
              <a:t>Phase 4: AI &amp; Visual Analytics | </a:t>
            </a:r>
            <a:r>
              <a:rPr lang="en-US" b="1" dirty="0" err="1"/>
              <a:t>Aversano</a:t>
            </a:r>
            <a:r>
              <a:rPr lang="en-US" b="1" dirty="0"/>
              <a:t> et al. (2024) &amp; Davenport &amp; Harris (2017)</a:t>
            </a:r>
            <a:r>
              <a:rPr lang="en-US" dirty="0"/>
              <a:t> (pp. 25-26)</a:t>
            </a:r>
          </a:p>
          <a:p>
            <a:pPr lvl="1" algn="just"/>
            <a:r>
              <a:rPr lang="en-US" b="1" dirty="0"/>
              <a:t>Focus:</a:t>
            </a:r>
            <a:r>
              <a:rPr lang="en-US" dirty="0"/>
              <a:t> Predictive health intelligence and interactive diagnostics (pp. 6, 27).</a:t>
            </a:r>
          </a:p>
          <a:p>
            <a:pPr lvl="1" algn="just"/>
            <a:r>
              <a:rPr lang="en-US" b="1" dirty="0"/>
              <a:t>Tools:</a:t>
            </a:r>
            <a:r>
              <a:rPr lang="en-US" dirty="0"/>
              <a:t> Python-based ML models (Random Forest, Logistic Regression) + Power BI (pp. 6, 31-32).</a:t>
            </a:r>
          </a:p>
          <a:p>
            <a:pPr lvl="1" algn="just"/>
            <a:r>
              <a:rPr lang="en-US" b="1" dirty="0"/>
              <a:t>Impact:</a:t>
            </a:r>
            <a:r>
              <a:rPr lang="en-US" dirty="0"/>
              <a:t> Achieves up to 95.5% accuracy in sleep/risk tracking while lowering cognitive load via dashboards (pp. 27, 32).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676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DF041F4-2D57-060C-0785-CFB0A979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5149719"/>
          </a:xfrm>
        </p:spPr>
        <p:txBody>
          <a:bodyPr/>
          <a:lstStyle/>
          <a:p>
            <a:r>
              <a:rPr lang="en-GB" b="1" dirty="0"/>
              <a:t>System design and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72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64E7F6-B5DA-56CC-5A47-71A6523B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 &amp; Implementation Timeline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241FFAD-5BF7-2CE4-2EA5-EB1D62A06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90" y="2185792"/>
            <a:ext cx="11530208" cy="393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63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180613-FD64-BA05-DDA5-7A8B7F1B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"/>
            <a:ext cx="9905998" cy="1396652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Use Case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8458E6C-6FFE-D268-7970-EC67BB158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97" y="1578278"/>
            <a:ext cx="10340236" cy="478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14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7DCBE9-3F2A-FAFD-12FE-82891F18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987468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Sequence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798D835-6A2E-A7CA-3CCE-8D34A1805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00" y="1822537"/>
            <a:ext cx="11674256" cy="486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24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F2A89E-680D-9AFF-6B4B-6832B850D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955" y="1177447"/>
            <a:ext cx="6281803" cy="4346531"/>
          </a:xfrm>
        </p:spPr>
        <p:txBody>
          <a:bodyPr/>
          <a:lstStyle/>
          <a:p>
            <a:pPr algn="l"/>
            <a:r>
              <a:rPr lang="en-US" b="1" dirty="0"/>
              <a:t>Practical part</a:t>
            </a:r>
            <a:br>
              <a:rPr lang="en-US" b="1" dirty="0"/>
            </a:br>
            <a:r>
              <a:rPr lang="en-US" b="1" dirty="0"/>
              <a:t> </a:t>
            </a:r>
            <a:r>
              <a:rPr lang="en-US" sz="2000" b="1" dirty="0"/>
              <a:t>using python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0745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B58942-651D-4B64-26CE-84F565E8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93AD617-4283-A617-1676-4C8FE7448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1897693"/>
            <a:ext cx="10364452" cy="3893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Logistic Regression Model: </a:t>
            </a:r>
          </a:p>
          <a:p>
            <a:r>
              <a:rPr lang="en-US" dirty="0"/>
              <a:t>Overall Accuracy: 92.04%   </a:t>
            </a:r>
          </a:p>
          <a:p>
            <a:r>
              <a:rPr lang="en-US" dirty="0"/>
              <a:t> Target Recall Rate: 95.50%   </a:t>
            </a:r>
          </a:p>
          <a:p>
            <a:pPr marL="0" indent="0">
              <a:buNone/>
            </a:pPr>
            <a:r>
              <a:rPr lang="en-US" b="1" u="sng" dirty="0"/>
              <a:t>Random Forest Model:</a:t>
            </a:r>
          </a:p>
          <a:p>
            <a:r>
              <a:rPr lang="en-US" dirty="0"/>
              <a:t> Overall Accuracy: 95.58% (Superior performance).  </a:t>
            </a:r>
          </a:p>
          <a:p>
            <a:r>
              <a:rPr lang="en-US" dirty="0"/>
              <a:t>  Advantage: Handles complex, non-linear relationships. </a:t>
            </a:r>
          </a:p>
        </p:txBody>
      </p:sp>
    </p:spTree>
    <p:extLst>
      <p:ext uri="{BB962C8B-B14F-4D97-AF65-F5344CB8AC3E}">
        <p14:creationId xmlns:p14="http://schemas.microsoft.com/office/powerpoint/2010/main" val="338531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E6F953-D794-BAC2-3B15-ED1F6639E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BI Integration &amp; 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E445795-63E9-66B7-A47A-0245563DE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Visualization Layer: Converts Python predictive data into executive dashboards. </a:t>
            </a:r>
          </a:p>
          <a:p>
            <a:r>
              <a:rPr lang="en-US" dirty="0"/>
              <a:t>Managerial Impact: Allows healthcare or HR administrators to track risk distributions across specific age groups and occupations.</a:t>
            </a:r>
          </a:p>
          <a:p>
            <a:r>
              <a:rPr lang="en-US" dirty="0"/>
              <a:t> Actionable Outcomes: Drives targeted screening campaigns and corporate wellness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1157469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0F6FDD-6697-8B81-085E-E42691B05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Significance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2365AA2-B7EF-30DF-39EC-FB7EB8863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9829" y="2385883"/>
            <a:ext cx="10364452" cy="3424107"/>
          </a:xfrm>
        </p:spPr>
        <p:txBody>
          <a:bodyPr/>
          <a:lstStyle/>
          <a:p>
            <a:r>
              <a:rPr lang="en-US" dirty="0"/>
              <a:t>Our model reached </a:t>
            </a:r>
            <a:r>
              <a:rPr lang="en-US" b="1" dirty="0"/>
              <a:t>92% accuracy</a:t>
            </a:r>
            <a:r>
              <a:rPr lang="en-US" dirty="0"/>
              <a:t>, proving it can reliably predict health risks.</a:t>
            </a:r>
          </a:p>
          <a:p>
            <a:r>
              <a:rPr lang="en-US" dirty="0"/>
              <a:t>It makes </a:t>
            </a:r>
            <a:r>
              <a:rPr lang="en-US" b="1" dirty="0"/>
              <a:t>complex Python results simple</a:t>
            </a:r>
            <a:r>
              <a:rPr lang="en-US" dirty="0"/>
              <a:t> by showing them in easy dashboards.</a:t>
            </a:r>
          </a:p>
          <a:p>
            <a:r>
              <a:rPr lang="en-US" dirty="0"/>
              <a:t>The project shows how </a:t>
            </a:r>
            <a:r>
              <a:rPr lang="en-US" b="1" dirty="0"/>
              <a:t>technology can prevent health problems early;</a:t>
            </a:r>
            <a:r>
              <a:rPr lang="en-US" dirty="0"/>
              <a:t> not just react after they happen.</a:t>
            </a:r>
          </a:p>
          <a:p>
            <a:r>
              <a:rPr lang="en-US" dirty="0"/>
              <a:t>This means fewer chronic diseases, better health awareness, and stronger productivity in professional life.</a:t>
            </a:r>
          </a:p>
        </p:txBody>
      </p:sp>
    </p:spTree>
    <p:extLst>
      <p:ext uri="{BB962C8B-B14F-4D97-AF65-F5344CB8AC3E}">
        <p14:creationId xmlns:p14="http://schemas.microsoft.com/office/powerpoint/2010/main" val="441037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9EC437-C956-844A-B872-1C25647C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481B9C5-BDC5-B32F-AC79-0D6B368EB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2387965"/>
            <a:ext cx="10364452" cy="3403235"/>
          </a:xfrm>
        </p:spPr>
        <p:txBody>
          <a:bodyPr>
            <a:normAutofit/>
          </a:bodyPr>
          <a:lstStyle/>
          <a:p>
            <a:r>
              <a:rPr lang="en-US" dirty="0"/>
              <a:t>We successfully </a:t>
            </a:r>
            <a:r>
              <a:rPr lang="en-US" b="1" dirty="0"/>
              <a:t>combined AI prediction with business intelligence tools</a:t>
            </a:r>
            <a:r>
              <a:rPr lang="en-US" dirty="0"/>
              <a:t>.</a:t>
            </a:r>
          </a:p>
          <a:p>
            <a:r>
              <a:rPr lang="en-US" dirty="0"/>
              <a:t>The project proves that </a:t>
            </a:r>
            <a:r>
              <a:rPr lang="en-US" b="1" dirty="0"/>
              <a:t>machine learning can be used in real workplaces</a:t>
            </a:r>
            <a:r>
              <a:rPr lang="en-US" dirty="0"/>
              <a:t>, not just research labs.</a:t>
            </a:r>
          </a:p>
          <a:p>
            <a:r>
              <a:rPr lang="en-US" dirty="0"/>
              <a:t>We </a:t>
            </a:r>
            <a:r>
              <a:rPr lang="en-US" dirty="0" smtClean="0"/>
              <a:t>Used </a:t>
            </a:r>
            <a:r>
              <a:rPr lang="en-US" b="1" dirty="0" smtClean="0"/>
              <a:t>Power BI</a:t>
            </a:r>
            <a:r>
              <a:rPr lang="en-US" b="1" dirty="0" smtClean="0"/>
              <a:t> </a:t>
            </a:r>
            <a:r>
              <a:rPr lang="en-US" b="1" dirty="0"/>
              <a:t>interfaces that turn raw health data into clear insights</a:t>
            </a:r>
            <a:r>
              <a:rPr lang="en-US" dirty="0"/>
              <a:t>, so even non‑technical managers can understand and act on them.</a:t>
            </a:r>
          </a:p>
          <a:p>
            <a:r>
              <a:rPr lang="en-US" dirty="0"/>
              <a:t>This contribution bridges the gap between </a:t>
            </a:r>
            <a:r>
              <a:rPr lang="en-US" b="1" dirty="0"/>
              <a:t>data science and healthcare management</a:t>
            </a:r>
            <a:r>
              <a:rPr lang="en-US" dirty="0"/>
              <a:t>, making advanced analytics practical and useful</a:t>
            </a:r>
          </a:p>
        </p:txBody>
      </p:sp>
    </p:spTree>
    <p:extLst>
      <p:ext uri="{BB962C8B-B14F-4D97-AF65-F5344CB8AC3E}">
        <p14:creationId xmlns:p14="http://schemas.microsoft.com/office/powerpoint/2010/main" val="3098843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6F7037-6DE6-9CDC-48F0-9465BCBA1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5187297"/>
          </a:xfrm>
        </p:spPr>
        <p:txBody>
          <a:bodyPr/>
          <a:lstStyle/>
          <a:p>
            <a:r>
              <a:rPr lang="en-US" b="1" dirty="0"/>
              <a:t>Conclusion and future work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382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D50C7B7-FAD1-D365-D12E-8870BE915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A4FBC67-B2B1-3940-59C4-A45219EF9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We built a </a:t>
            </a:r>
            <a:r>
              <a:rPr lang="en-US" b="1" dirty="0"/>
              <a:t>health prediction model</a:t>
            </a:r>
            <a:r>
              <a:rPr lang="en-US" dirty="0"/>
              <a:t> with Python and Power BI.</a:t>
            </a:r>
          </a:p>
          <a:p>
            <a:pPr lvl="0"/>
            <a:r>
              <a:rPr lang="en-US" dirty="0"/>
              <a:t>It moves healthcare from </a:t>
            </a:r>
            <a:r>
              <a:rPr lang="en-US" b="1" dirty="0"/>
              <a:t>reactive to preventive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By tracking </a:t>
            </a:r>
            <a:r>
              <a:rPr lang="en-US" b="1" dirty="0"/>
              <a:t>sleep and activity</a:t>
            </a:r>
            <a:r>
              <a:rPr lang="en-US" dirty="0"/>
              <a:t>, it predicts risks like sleep disorders and heart disease.</a:t>
            </a:r>
          </a:p>
          <a:p>
            <a:pPr lvl="0"/>
            <a:r>
              <a:rPr lang="en-US" dirty="0"/>
              <a:t>This helps people improve </a:t>
            </a:r>
            <a:r>
              <a:rPr lang="en-US" b="1" dirty="0"/>
              <a:t>health, life quality, and productivity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Future work: add </a:t>
            </a:r>
            <a:r>
              <a:rPr lang="en-US" b="1" dirty="0"/>
              <a:t>real-time data</a:t>
            </a:r>
            <a:r>
              <a:rPr lang="en-US" dirty="0"/>
              <a:t> for faster, more accurate insights.</a:t>
            </a:r>
          </a:p>
        </p:txBody>
      </p:sp>
    </p:spTree>
    <p:extLst>
      <p:ext uri="{BB962C8B-B14F-4D97-AF65-F5344CB8AC3E}">
        <p14:creationId xmlns:p14="http://schemas.microsoft.com/office/powerpoint/2010/main" val="763313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FDB874-A56E-85EC-92F8-D9E81E6BE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42C7501-94C5-4B94-D66A-D997CE205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Add </a:t>
            </a:r>
            <a:r>
              <a:rPr lang="en-US" b="1" dirty="0"/>
              <a:t>IoT devices</a:t>
            </a:r>
            <a:r>
              <a:rPr lang="en-US" dirty="0"/>
              <a:t> like smartwatches and fitness trackers to collect live health data.</a:t>
            </a:r>
          </a:p>
          <a:p>
            <a:r>
              <a:rPr lang="en-US" dirty="0"/>
              <a:t>Move the system to the </a:t>
            </a:r>
            <a:r>
              <a:rPr lang="en-US" b="1" dirty="0"/>
              <a:t>cloud</a:t>
            </a:r>
            <a:r>
              <a:rPr lang="en-US" dirty="0"/>
              <a:t> so it can scale and support more users at once.</a:t>
            </a:r>
          </a:p>
          <a:p>
            <a:r>
              <a:rPr lang="en-US" dirty="0"/>
              <a:t>Strengthen </a:t>
            </a:r>
            <a:r>
              <a:rPr lang="en-US" b="1" dirty="0"/>
              <a:t>data security</a:t>
            </a:r>
            <a:r>
              <a:rPr lang="en-US" dirty="0"/>
              <a:t> with encryption and compliance standards to protect patient records.</a:t>
            </a:r>
          </a:p>
          <a:p>
            <a:r>
              <a:rPr lang="en-US" dirty="0"/>
              <a:t>Improve </a:t>
            </a:r>
            <a:r>
              <a:rPr lang="en-US" b="1" dirty="0"/>
              <a:t>real‑time analysis</a:t>
            </a:r>
            <a:r>
              <a:rPr lang="en-US" dirty="0"/>
              <a:t> for faster predictions and more accurate health insights.</a:t>
            </a:r>
          </a:p>
          <a:p>
            <a:r>
              <a:rPr lang="en-US" dirty="0"/>
              <a:t>Explore </a:t>
            </a:r>
            <a:r>
              <a:rPr lang="en-US" b="1" dirty="0"/>
              <a:t>deep learning models</a:t>
            </a:r>
            <a:r>
              <a:rPr lang="en-US" dirty="0"/>
              <a:t> for advanced risk detection and personalized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789371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BAFD0B-E634-AD2C-CAA3-51FF4D3AF7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9C7004C-6A99-34F1-16A1-2DF9144EF5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Questions &amp; Academic Discussion</a:t>
            </a:r>
          </a:p>
        </p:txBody>
      </p:sp>
    </p:spTree>
    <p:extLst>
      <p:ext uri="{BB962C8B-B14F-4D97-AF65-F5344CB8AC3E}">
        <p14:creationId xmlns:p14="http://schemas.microsoft.com/office/powerpoint/2010/main" val="279823156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363</TotalTime>
  <Words>1199</Words>
  <Application>Microsoft Office PowerPoint</Application>
  <PresentationFormat>Custom</PresentationFormat>
  <Paragraphs>121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Droplet</vt:lpstr>
      <vt:lpstr>AI Driven Health and Lifestyle Monitoring With Python and Power BI</vt:lpstr>
      <vt:lpstr>Project Team &amp; Supervisors</vt:lpstr>
      <vt:lpstr>Project Agenda</vt:lpstr>
      <vt:lpstr>Project Idea</vt:lpstr>
      <vt:lpstr>Problem Analysis</vt:lpstr>
      <vt:lpstr>Project Objectives</vt:lpstr>
      <vt:lpstr>Dataset Description</vt:lpstr>
      <vt:lpstr>Guided Questions</vt:lpstr>
      <vt:lpstr>Literature Review</vt:lpstr>
      <vt:lpstr>System design and analysis</vt:lpstr>
      <vt:lpstr>Project Scope &amp; Implementation Timeline</vt:lpstr>
      <vt:lpstr> Use Case Diagram</vt:lpstr>
      <vt:lpstr> Sequence Diagram</vt:lpstr>
      <vt:lpstr>Practical part  using python</vt:lpstr>
      <vt:lpstr>Machine Learning Results</vt:lpstr>
      <vt:lpstr>Power BI Integration &amp; Value</vt:lpstr>
      <vt:lpstr>Project Significance</vt:lpstr>
      <vt:lpstr>Contribution</vt:lpstr>
      <vt:lpstr>Conclusion and future work </vt:lpstr>
      <vt:lpstr>Conclusion</vt:lpstr>
      <vt:lpstr>Future Work</vt:lpstr>
      <vt:lpstr>Thank You!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Driven Health and Lifestyle Monitoring With Python and Power BI</dc:title>
  <dc:creator>Ahmed 32300471</dc:creator>
  <cp:lastModifiedBy>dell</cp:lastModifiedBy>
  <cp:revision>17</cp:revision>
  <dcterms:created xsi:type="dcterms:W3CDTF">2026-06-06T13:24:48Z</dcterms:created>
  <dcterms:modified xsi:type="dcterms:W3CDTF">2026-06-08T16:52:33Z</dcterms:modified>
</cp:coreProperties>
</file>